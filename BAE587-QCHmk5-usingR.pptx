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5"/>
  </p:notesMasterIdLst>
  <p:sldIdLst>
    <p:sldId id="256" r:id="rId2"/>
    <p:sldId id="291" r:id="rId3"/>
    <p:sldId id="257" r:id="rId4"/>
    <p:sldId id="278" r:id="rId5"/>
    <p:sldId id="258" r:id="rId6"/>
    <p:sldId id="259" r:id="rId7"/>
    <p:sldId id="260" r:id="rId8"/>
    <p:sldId id="261" r:id="rId9"/>
    <p:sldId id="262" r:id="rId10"/>
    <p:sldId id="294" r:id="rId11"/>
    <p:sldId id="295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92" r:id="rId23"/>
    <p:sldId id="263" r:id="rId24"/>
    <p:sldId id="293" r:id="rId25"/>
    <p:sldId id="274" r:id="rId26"/>
    <p:sldId id="283" r:id="rId27"/>
    <p:sldId id="284" r:id="rId28"/>
    <p:sldId id="285" r:id="rId29"/>
    <p:sldId id="286" r:id="rId30"/>
    <p:sldId id="287" r:id="rId31"/>
    <p:sldId id="288" r:id="rId32"/>
    <p:sldId id="289" r:id="rId33"/>
    <p:sldId id="290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028"/>
    <p:restoredTop sz="94643"/>
  </p:normalViewPr>
  <p:slideViewPr>
    <p:cSldViewPr snapToGrid="0" snapToObjects="1">
      <p:cViewPr varScale="1">
        <p:scale>
          <a:sx n="126" d="100"/>
          <a:sy n="126" d="100"/>
        </p:scale>
        <p:origin x="1008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EE3341-CA07-9540-9B75-2F6225BB1A58}" type="datetimeFigureOut">
              <a:rPr lang="en-US" smtClean="0"/>
              <a:t>9/22/26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812FDF-714F-3F42-BCCE-8F29528D1D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01732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B1482-859C-AF42-8565-393F325CDF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A4AF0F9-7AB7-0648-84DD-C295FCC1A9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48178C-BABC-9444-80DA-2D55717E52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134D1D-5F46-564B-89D7-2BAA0887CFC8}" type="datetimeFigureOut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56C560-1764-3B4E-90DB-0659583051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0565AF-D818-0746-AF70-362203C1E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54E808-A5E9-074E-AA9B-92EAC0C96F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22726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CCCDB6-5B5B-8242-8FF6-E1A93E20EF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EE2D71-41A9-DB42-83AD-74806675C2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FAA834-E4AF-1A4E-BE2B-DE5F54254A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134D1D-5F46-564B-89D7-2BAA0887CFC8}" type="datetimeFigureOut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666245-CBF3-6F46-B170-5020CE550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DD46A4-8BF4-E549-B9BB-D6759BBDFD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54E808-A5E9-074E-AA9B-92EAC0C96F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7302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FA1CE-E528-C644-B6B8-5474B41DA9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80D77B-B8FC-A94D-B6AB-3B59163C4E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BD33B6-6B37-0440-BB76-4B44DBF2AD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134D1D-5F46-564B-89D7-2BAA0887CFC8}" type="datetimeFigureOut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9F5E94-71C1-6845-B165-B75E6B3E67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48FF82-3E23-334F-AFA2-CF9C3FBA31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54E808-A5E9-074E-AA9B-92EAC0C96F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40151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BD191C-D079-E34E-971D-AC98789C8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5BB1B0-CA71-D748-AC14-200B9DF373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07074CB-5B6D-574A-BCF7-A6348B61AE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3AFF7A-022E-8D42-BCBE-7652DFC580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134D1D-5F46-564B-89D7-2BAA0887CFC8}" type="datetimeFigureOut">
              <a:rPr lang="en-US" smtClean="0"/>
              <a:t>9/22/26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2D854E-4255-CF45-84DB-605E2496BD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13C062-9823-984F-BDCA-16A7A6CCC3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54E808-A5E9-074E-AA9B-92EAC0C96F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78134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C2B8E0-199E-E641-86D1-67FEC3499A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EF3395-EC75-7C45-86BC-213F578FCA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2D2B45-C71F-344D-9DD9-A652E1B4C2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7E38452-E954-2441-8DF2-B1195CCD863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60C349-046A-2F47-9D84-0861FB1B7DA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472B0DF-8CDF-A847-B1AC-E8B0D43521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134D1D-5F46-564B-89D7-2BAA0887CFC8}" type="datetimeFigureOut">
              <a:rPr lang="en-US" smtClean="0"/>
              <a:t>9/22/26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AF43987-85ED-A84E-8987-BD86888E37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54F29EF-0C96-884D-99AE-957D2DD558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54E808-A5E9-074E-AA9B-92EAC0C96F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12725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14C85A-C8A9-6046-8E19-0A0331406D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5EE5533-C9B5-374C-86D0-5621D6969E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134D1D-5F46-564B-89D7-2BAA0887CFC8}" type="datetimeFigureOut">
              <a:rPr lang="en-US" smtClean="0"/>
              <a:t>9/22/26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17D114-3ABA-8B40-8332-EDD10DBED2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89CAD82-0419-E447-B04F-288AE6975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54E808-A5E9-074E-AA9B-92EAC0C96F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76751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EEE7240-E972-A541-8DF6-8C7748670E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134D1D-5F46-564B-89D7-2BAA0887CFC8}" type="datetimeFigureOut">
              <a:rPr lang="en-US" smtClean="0"/>
              <a:t>9/22/26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BCCDFCF-641D-5B44-8FB5-A464F8373D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FB4D0A-64D2-FA4A-B889-DEAEAA62AC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54E808-A5E9-074E-AA9B-92EAC0C96F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5879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3C20D1-5C5E-A140-AE4C-CF24BB8BC4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C78DE9-725D-BA46-B6AF-CDC861A884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9DA269-0492-E44E-9308-EBBF7FAC75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26F6826-34F9-F542-BD15-286C806516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134D1D-5F46-564B-89D7-2BAA0887CFC8}" type="datetimeFigureOut">
              <a:rPr lang="en-US" smtClean="0"/>
              <a:t>9/22/26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A3AAFA-7060-184E-8DC3-EE1EE04317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6EC00C-A959-A347-8E7A-F49E32A50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54E808-A5E9-074E-AA9B-92EAC0C96F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58967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9B01F4-D9F2-384D-8A82-8D110AAE0E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5B15E85-9E9D-F841-943B-2BA4A3464B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EB3C15-0111-544F-A719-49B01464C0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26CBF70-CBA3-C44C-8427-933C555F12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134D1D-5F46-564B-89D7-2BAA0887CFC8}" type="datetimeFigureOut">
              <a:rPr lang="en-US" smtClean="0"/>
              <a:t>9/22/26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7A93C3-397B-AA44-BEF5-42EE64E07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B3389D-508A-1A4C-8EC1-8528DB29A4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54E808-A5E9-074E-AA9B-92EAC0C96F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2977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EE9B32-AC3F-AE49-A728-8DC84128F3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255099-50B8-D84B-8096-1DA32BF36A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E30B27-BFFF-0642-B840-1306A7141C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134D1D-5F46-564B-89D7-2BAA0887CFC8}" type="datetimeFigureOut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55817F-5DAC-7344-A47B-3D1FB367A7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10C6BB-0CEC-C84D-8ECF-FFE7EB07C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54E808-A5E9-074E-AA9B-92EAC0C96F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6072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BD28DDA-AAB6-1048-ACEB-3F4F26F975E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8D37459-A71F-5246-B796-4742A60C3C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BC19F2-9481-F442-B316-F3EBC5A363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134D1D-5F46-564B-89D7-2BAA0887CFC8}" type="datetimeFigureOut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E02989-77EE-E842-A6E5-812A185F46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976537-638A-2A46-87BE-4A143C316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54E808-A5E9-074E-AA9B-92EAC0C96F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65464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2EE4526-881D-CF4B-9741-2D98E0089B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208F37-A9C8-8F45-924C-0C76C2475F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DA1ABB-EAA9-6C41-80FC-868258D0C90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134D1D-5F46-564B-89D7-2BAA0887CFC8}" type="datetimeFigureOut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F13659-5CD5-EF46-91D4-E5246273E67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8F1B42-ADB7-C748-A5AF-E93D753DDE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54E808-A5E9-074E-AA9B-92EAC0C96F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307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://archive.linux.duke.edu/cran/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tiff"/><Relationship Id="rId2" Type="http://schemas.openxmlformats.org/officeDocument/2006/relationships/image" Target="../media/image3.tif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tiff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quarto.org/docs/faq/rmarkdown.html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francoisbirgand.github.io/tutorial-RMarkdown_instructions.html" TargetMode="External"/><Relationship Id="rId2" Type="http://schemas.openxmlformats.org/officeDocument/2006/relationships/hyperlink" Target="https://rmarkdown.rstudio.com/lesson-1.html" TargetMode="Externa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hyperlink" Target="https://github.com/francoisbirgand/QClab587" TargetMode="Externa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3AC844-DE8B-7D4E-937B-BDE3EBC65C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BAE 587</a:t>
            </a:r>
            <a:br>
              <a:rPr lang="en-US" dirty="0"/>
            </a:br>
            <a:r>
              <a:rPr lang="en-US" dirty="0"/>
              <a:t>Introduction to R Markdown, Quarto, and use in </a:t>
            </a:r>
            <a:br>
              <a:rPr lang="en-US" dirty="0"/>
            </a:br>
            <a:r>
              <a:rPr lang="en-US" dirty="0"/>
              <a:t>Homework #5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9C00F3-BB0F-4649-919A-F7A883DC6D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93324"/>
            <a:ext cx="9144000" cy="864476"/>
          </a:xfrm>
        </p:spPr>
        <p:txBody>
          <a:bodyPr>
            <a:normAutofit/>
          </a:bodyPr>
          <a:lstStyle/>
          <a:p>
            <a:r>
              <a:rPr lang="en-US"/>
              <a:t>BAE587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17803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263A29-0F67-4F4B-8375-483CD6B352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 of Things to do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433347-8FD1-214C-8222-06D46697BD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Download R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Download R Studio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Read what Markdown is (it is a language)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Read what R Markdown does (purple slides)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81928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F32EB3-D426-5E49-B1F3-5EFC0F0E73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Download 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5EB29D-6A84-6648-9E43-513D3A03D1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Google:  ‘R project’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>
                <a:hlinkClick r:id="rId2"/>
              </a:rPr>
              <a:t>http://archive.linux.duke.edu/cran/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D78487F-0D72-7540-9D5D-98559CDEDC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413370"/>
            <a:ext cx="8583930" cy="2129420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75264B5B-7F18-D24A-A9DE-3B970E5EB5AC}"/>
              </a:ext>
            </a:extLst>
          </p:cNvPr>
          <p:cNvSpPr/>
          <p:nvPr/>
        </p:nvSpPr>
        <p:spPr>
          <a:xfrm>
            <a:off x="8412480" y="3901440"/>
            <a:ext cx="1168400" cy="641350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243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F32EB3-D426-5E49-B1F3-5EFC0F0E73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Download </a:t>
            </a:r>
            <a:r>
              <a:rPr lang="en-US" dirty="0" err="1"/>
              <a:t>RStudio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5EB29D-6A84-6648-9E43-513D3A03D1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Google:  ‘</a:t>
            </a:r>
            <a:r>
              <a:rPr lang="en-US" dirty="0" err="1"/>
              <a:t>rstudio</a:t>
            </a:r>
            <a:r>
              <a:rPr lang="en-US" dirty="0"/>
              <a:t> download’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937A7D-C61F-5E02-A81F-A1C6D42B60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3655" y="2560982"/>
            <a:ext cx="9424690" cy="3931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65379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CE0A87-A94E-4C47-97BE-91DFAC8F4E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R to make websites, write books and articles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ED28F68-FA95-FB48-8843-66ECA686F2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0378" y="1690688"/>
            <a:ext cx="1969815" cy="226528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353239D-949D-FA4D-82BE-D145C9A32441}"/>
              </a:ext>
            </a:extLst>
          </p:cNvPr>
          <p:cNvSpPr txBox="1"/>
          <p:nvPr/>
        </p:nvSpPr>
        <p:spPr>
          <a:xfrm>
            <a:off x="5295399" y="1321356"/>
            <a:ext cx="10397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Websites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A9AE800-2E4F-7048-8ADA-C688DFC1F2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8892" y="4296323"/>
            <a:ext cx="1971923" cy="226771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BAD0A16-E83D-2F4C-8C2E-6DCE0D83C7D0}"/>
              </a:ext>
            </a:extLst>
          </p:cNvPr>
          <p:cNvSpPr txBox="1"/>
          <p:nvPr/>
        </p:nvSpPr>
        <p:spPr>
          <a:xfrm>
            <a:off x="7727263" y="3844882"/>
            <a:ext cx="22951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Books, chaptered docs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A650382-F2AB-4A42-ABF5-28323EFF5D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1882" y="4200034"/>
            <a:ext cx="2011545" cy="226771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46724CB-D2B7-434E-A216-69155978A0CB}"/>
              </a:ext>
            </a:extLst>
          </p:cNvPr>
          <p:cNvSpPr txBox="1"/>
          <p:nvPr/>
        </p:nvSpPr>
        <p:spPr>
          <a:xfrm>
            <a:off x="2125866" y="3771309"/>
            <a:ext cx="8835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Articles</a:t>
            </a:r>
          </a:p>
        </p:txBody>
      </p:sp>
    </p:spTree>
    <p:extLst>
      <p:ext uri="{BB962C8B-B14F-4D97-AF65-F5344CB8AC3E}">
        <p14:creationId xmlns:p14="http://schemas.microsoft.com/office/powerpoint/2010/main" val="17793637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D8D1F-762A-1C4E-BBE8-2174A6B37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What’s this </a:t>
            </a:r>
            <a:r>
              <a:rPr lang="en-US" sz="3600" i="1" dirty="0"/>
              <a:t>***</a:t>
            </a:r>
            <a:r>
              <a:rPr lang="en-US" dirty="0">
                <a:solidFill>
                  <a:srgbClr val="00B050"/>
                </a:solidFill>
              </a:rPr>
              <a:t>down</a:t>
            </a:r>
            <a:r>
              <a:rPr lang="en-US" dirty="0"/>
              <a:t> business?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958485-583F-F94D-8FC5-919D409618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079531"/>
            <a:ext cx="10515600" cy="3097431"/>
          </a:xfrm>
        </p:spPr>
        <p:txBody>
          <a:bodyPr/>
          <a:lstStyle/>
          <a:p>
            <a:r>
              <a:rPr lang="en-US" dirty="0"/>
              <a:t>It starts with Mark</a:t>
            </a:r>
            <a:r>
              <a:rPr lang="en-US" dirty="0">
                <a:solidFill>
                  <a:srgbClr val="FF0000"/>
                </a:solidFill>
              </a:rPr>
              <a:t>up</a:t>
            </a:r>
            <a:r>
              <a:rPr lang="en-US" dirty="0"/>
              <a:t> language!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45040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7A5794-5C9B-784A-8DAC-170028D92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the Mark</a:t>
            </a:r>
            <a:r>
              <a:rPr lang="en-US" dirty="0">
                <a:solidFill>
                  <a:srgbClr val="FF0000"/>
                </a:solidFill>
              </a:rPr>
              <a:t>up</a:t>
            </a:r>
            <a:r>
              <a:rPr lang="en-US" dirty="0"/>
              <a:t> language?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5DD21BC-0378-984C-A483-595AA975CB0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38279"/>
          <a:stretch/>
        </p:blipFill>
        <p:spPr>
          <a:xfrm>
            <a:off x="680326" y="1709020"/>
            <a:ext cx="10579100" cy="159122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D71BA36-6717-1A4E-B619-56C2968027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6" y="3825765"/>
            <a:ext cx="10673474" cy="2351197"/>
          </a:xfrm>
        </p:spPr>
        <p:txBody>
          <a:bodyPr>
            <a:normAutofit/>
          </a:bodyPr>
          <a:lstStyle/>
          <a:p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&lt;div id="what-is-the-markdown-language" class="section level2"&gt; &lt;h2&gt;What is the Markdown language?&lt;/h2&gt; &lt;p&gt;I borrow ... from &lt;a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href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="http://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www.stat.cmu.edu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/~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cshalizi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rmarkdown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/"&gt;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Dr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Shalizi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&lt;/a&gt; from ...&lt;/p&gt; &lt;p&gt;Many ...that of &lt;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em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&gt;marking up&lt;/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em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&gt; text. The essential idea in a &lt;strong&gt;mark-up language&lt;/strong&gt; is that it consists of ordinary text, &lt;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em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&gt;plus&lt;/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em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&gt; signs which indicate how to change the formatting or meaning of the text. Some mark-up languages, like HTML (Hyper-Text Markup Language) use very obtrusive markup; others, like the language called &lt;strong&gt;Markdown&lt;/strong&gt;, are more subtle.&lt;/p&gt; &lt;/div&gt;</a:t>
            </a:r>
          </a:p>
        </p:txBody>
      </p:sp>
    </p:spTree>
    <p:extLst>
      <p:ext uri="{BB962C8B-B14F-4D97-AF65-F5344CB8AC3E}">
        <p14:creationId xmlns:p14="http://schemas.microsoft.com/office/powerpoint/2010/main" val="15277474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A7632-8480-044F-9CF2-FD31A93FFD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Mark</a:t>
            </a:r>
            <a:r>
              <a:rPr lang="en-US" dirty="0">
                <a:solidFill>
                  <a:srgbClr val="FF0000"/>
                </a:solidFill>
              </a:rPr>
              <a:t>up</a:t>
            </a:r>
            <a:r>
              <a:rPr lang="en-US" dirty="0"/>
              <a:t>, Mark</a:t>
            </a:r>
            <a:r>
              <a:rPr lang="en-US" dirty="0">
                <a:solidFill>
                  <a:srgbClr val="00B050"/>
                </a:solidFill>
              </a:rPr>
              <a:t>down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1F2352-F1F0-4C4C-BD8F-0ADCB2C885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Play on word!</a:t>
            </a:r>
          </a:p>
          <a:p>
            <a:r>
              <a:rPr lang="en-US" dirty="0"/>
              <a:t>Mark</a:t>
            </a:r>
            <a:r>
              <a:rPr lang="en-US" dirty="0">
                <a:solidFill>
                  <a:srgbClr val="FF0000"/>
                </a:solidFill>
              </a:rPr>
              <a:t>up</a:t>
            </a:r>
            <a:r>
              <a:rPr lang="en-US" dirty="0"/>
              <a:t>: a bit on the complicated side (HTML, </a:t>
            </a:r>
            <a:r>
              <a:rPr lang="en-US" dirty="0" err="1"/>
              <a:t>LaTeX</a:t>
            </a:r>
            <a:r>
              <a:rPr lang="en-US" dirty="0"/>
              <a:t>, others)</a:t>
            </a:r>
          </a:p>
          <a:p>
            <a:r>
              <a:rPr lang="en-US" dirty="0"/>
              <a:t>Mark</a:t>
            </a:r>
            <a:r>
              <a:rPr lang="en-US" dirty="0">
                <a:solidFill>
                  <a:srgbClr val="00B050"/>
                </a:solidFill>
              </a:rPr>
              <a:t>down: </a:t>
            </a:r>
            <a:r>
              <a:rPr lang="en-US" dirty="0"/>
              <a:t>the idea is to make things simple:</a:t>
            </a:r>
          </a:p>
          <a:p>
            <a:pPr lvl="1"/>
            <a:r>
              <a:rPr lang="en-US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&lt;div id="what-is-the-markdown-language" class="section level2"&gt; &lt;h2&gt;What is the Markdown language?&lt;/h2&gt;</a:t>
            </a:r>
          </a:p>
          <a:p>
            <a:pPr lvl="1"/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Becomes</a:t>
            </a:r>
          </a:p>
          <a:p>
            <a:pPr lvl="1"/>
            <a:endParaRPr lang="en-US" dirty="0"/>
          </a:p>
          <a:p>
            <a:pPr lvl="1"/>
            <a:r>
              <a:rPr lang="en-US" dirty="0">
                <a:solidFill>
                  <a:srgbClr val="00B050"/>
                </a:solidFill>
              </a:rPr>
              <a:t>## What is the Markdown language?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52531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5C9CAB-06A6-3D43-B1B9-F2E7DD23A0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One code, several output formats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688456-649D-6C4C-818F-C42043A43E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Markdown .md format recognized by many interpreter codes</a:t>
            </a:r>
          </a:p>
          <a:p>
            <a:r>
              <a:rPr lang="en-US" dirty="0" err="1"/>
              <a:t>Rmarkdown</a:t>
            </a:r>
            <a:r>
              <a:rPr lang="en-US" dirty="0"/>
              <a:t> example outputs:</a:t>
            </a:r>
          </a:p>
          <a:p>
            <a:pPr lvl="1"/>
            <a:r>
              <a:rPr lang="en-US" dirty="0"/>
              <a:t>Documents:</a:t>
            </a:r>
          </a:p>
          <a:p>
            <a:pPr lvl="2"/>
            <a:r>
              <a:rPr lang="en-US" dirty="0"/>
              <a:t>Html documents</a:t>
            </a:r>
          </a:p>
          <a:p>
            <a:pPr lvl="2"/>
            <a:r>
              <a:rPr lang="en-US" dirty="0"/>
              <a:t>Pdf document (via </a:t>
            </a:r>
            <a:r>
              <a:rPr lang="en-US" dirty="0" err="1"/>
              <a:t>LaTeX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Word document</a:t>
            </a:r>
          </a:p>
          <a:p>
            <a:pPr lvl="2"/>
            <a:r>
              <a:rPr lang="en-US" dirty="0" err="1"/>
              <a:t>epub</a:t>
            </a:r>
            <a:endParaRPr lang="en-US" dirty="0"/>
          </a:p>
          <a:p>
            <a:pPr lvl="1"/>
            <a:r>
              <a:rPr lang="en-US" dirty="0"/>
              <a:t>Presentations:</a:t>
            </a:r>
          </a:p>
          <a:p>
            <a:pPr lvl="2"/>
            <a:r>
              <a:rPr lang="en-US" dirty="0" err="1"/>
              <a:t>Ioslides_presentations</a:t>
            </a:r>
            <a:endParaRPr lang="en-US" dirty="0"/>
          </a:p>
          <a:p>
            <a:pPr lvl="2"/>
            <a:r>
              <a:rPr lang="en-US" dirty="0"/>
              <a:t>Power point presentations</a:t>
            </a:r>
          </a:p>
          <a:p>
            <a:pPr lvl="1"/>
            <a:r>
              <a:rPr lang="en-US" dirty="0"/>
              <a:t>Other:</a:t>
            </a:r>
          </a:p>
          <a:p>
            <a:pPr lvl="2"/>
            <a:r>
              <a:rPr lang="en-US" dirty="0"/>
              <a:t>Interactive dashboards</a:t>
            </a:r>
          </a:p>
          <a:p>
            <a:pPr lvl="2"/>
            <a:r>
              <a:rPr lang="en-US" dirty="0" err="1"/>
              <a:t>Github_documents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5724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40DB70-F781-407F-5CD3-8C1F23B53D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278541" cy="1325563"/>
          </a:xfrm>
        </p:spPr>
        <p:txBody>
          <a:bodyPr/>
          <a:lstStyle/>
          <a:p>
            <a:r>
              <a:rPr lang="en-US" dirty="0"/>
              <a:t>Same idea with Quarto, although R not necessary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60CB21-D072-C80F-196C-EE5416D931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9487829" cy="4351338"/>
          </a:xfrm>
        </p:spPr>
        <p:txBody>
          <a:bodyPr/>
          <a:lstStyle/>
          <a:p>
            <a:r>
              <a:rPr lang="en-US" dirty="0"/>
              <a:t>Quarto has very similar features as those of R Markdown: same code</a:t>
            </a:r>
          </a:p>
          <a:p>
            <a:r>
              <a:rPr lang="en-US" dirty="0"/>
              <a:t>It is used with the same philosophy of reproducible research</a:t>
            </a:r>
          </a:p>
          <a:p>
            <a:r>
              <a:rPr lang="en-US" dirty="0"/>
              <a:t>While R Markdown features are linked to R and R studio, Quarto works independently of R</a:t>
            </a:r>
          </a:p>
          <a:p>
            <a:r>
              <a:rPr lang="en-US" dirty="0"/>
              <a:t>Quarto documents can be used and open by other platforms such as Jupyter, or other languages such as Python, Julia or Observable</a:t>
            </a:r>
          </a:p>
          <a:p>
            <a:r>
              <a:rPr lang="en-US" dirty="0"/>
              <a:t>R Studio can open Quarto documents</a:t>
            </a:r>
          </a:p>
          <a:p>
            <a:endParaRPr lang="en-US" dirty="0"/>
          </a:p>
        </p:txBody>
      </p:sp>
      <p:pic>
        <p:nvPicPr>
          <p:cNvPr id="4" name="Picture 3" descr="Home | Posit swag">
            <a:extLst>
              <a:ext uri="{FF2B5EF4-FFF2-40B4-BE49-F238E27FC236}">
                <a16:creationId xmlns:a16="http://schemas.microsoft.com/office/drawing/2014/main" id="{1F7C4C02-A09C-6DB3-653C-B09CBF7A2B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47406" y="365125"/>
            <a:ext cx="2121600" cy="1966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15679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35BE5F-306C-AE0A-2802-F3F03835A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Differences between R Markdown and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0C573B-A340-9EE5-292C-166DC27D43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you are really interested to know the differences: </a:t>
            </a:r>
          </a:p>
          <a:p>
            <a:pPr lvl="1"/>
            <a:r>
              <a:rPr lang="en-US" dirty="0"/>
              <a:t>go to: </a:t>
            </a:r>
            <a:r>
              <a:rPr lang="en-US" dirty="0">
                <a:hlinkClick r:id="rId2"/>
              </a:rPr>
              <a:t>https://quarto.org/docs/faq/rmarkdown.html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7511C3E-BA44-8067-1AC2-9CBF93F643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082" y="3750211"/>
            <a:ext cx="11083997" cy="2561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77044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51B4CE9-CFBB-254B-87D1-0B50C22AE8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75431"/>
            <a:ext cx="12192000" cy="3075917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C1C7CE-2684-0D46-BD4E-D033D0991E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96218"/>
            <a:ext cx="10515600" cy="1001658"/>
          </a:xfrm>
        </p:spPr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www.rstudio.com</a:t>
            </a:r>
            <a:r>
              <a:rPr lang="en-US" dirty="0"/>
              <a:t>/</a:t>
            </a:r>
            <a:r>
              <a:rPr lang="en-US" dirty="0" err="1"/>
              <a:t>wp</a:t>
            </a:r>
            <a:r>
              <a:rPr lang="en-US" dirty="0"/>
              <a:t>-content/uploads/2015/02/</a:t>
            </a:r>
            <a:r>
              <a:rPr lang="en-US" dirty="0" err="1"/>
              <a:t>rmarkdown-cheatsheet.pdf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54208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C2E44EF-09C7-A248-AFD1-932156BC35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700" y="400050"/>
            <a:ext cx="10642600" cy="6057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62437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A1894C8-7F89-444D-90DD-1B96AD0726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2759"/>
            <a:ext cx="12192000" cy="6652481"/>
          </a:xfrm>
          <a:prstGeom prst="rect">
            <a:avLst/>
          </a:prstGeom>
        </p:spPr>
      </p:pic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758675E2-FAC8-DC49-BD4F-B57866CC5487}"/>
              </a:ext>
            </a:extLst>
          </p:cNvPr>
          <p:cNvSpPr/>
          <p:nvPr/>
        </p:nvSpPr>
        <p:spPr>
          <a:xfrm>
            <a:off x="-157655" y="5559972"/>
            <a:ext cx="557048" cy="1429407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23285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A1894C8-7F89-444D-90DD-1B96AD07261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72790"/>
          <a:stretch/>
        </p:blipFill>
        <p:spPr>
          <a:xfrm>
            <a:off x="0" y="102760"/>
            <a:ext cx="12192000" cy="181012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383951D-B1A4-4C43-BEF3-F9D8ABE8BE0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44274"/>
          <a:stretch/>
        </p:blipFill>
        <p:spPr>
          <a:xfrm>
            <a:off x="399393" y="2211990"/>
            <a:ext cx="10655300" cy="3043182"/>
          </a:xfrm>
          <a:prstGeom prst="rect">
            <a:avLst/>
          </a:prstGeom>
        </p:spPr>
      </p:pic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758675E2-FAC8-DC49-BD4F-B57866CC5487}"/>
              </a:ext>
            </a:extLst>
          </p:cNvPr>
          <p:cNvSpPr/>
          <p:nvPr/>
        </p:nvSpPr>
        <p:spPr>
          <a:xfrm>
            <a:off x="231228" y="1912884"/>
            <a:ext cx="557048" cy="1429407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81819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A1894C8-7F89-444D-90DD-1B96AD07261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72790"/>
          <a:stretch/>
        </p:blipFill>
        <p:spPr>
          <a:xfrm>
            <a:off x="0" y="102760"/>
            <a:ext cx="12192000" cy="1810124"/>
          </a:xfrm>
          <a:prstGeom prst="rect">
            <a:avLst/>
          </a:prstGeom>
        </p:spPr>
      </p:pic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758675E2-FAC8-DC49-BD4F-B57866CC5487}"/>
              </a:ext>
            </a:extLst>
          </p:cNvPr>
          <p:cNvSpPr/>
          <p:nvPr/>
        </p:nvSpPr>
        <p:spPr>
          <a:xfrm>
            <a:off x="-157655" y="5559972"/>
            <a:ext cx="557048" cy="1429407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E848340-3EFE-3B43-9C34-7902A113B11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442"/>
          <a:stretch/>
        </p:blipFill>
        <p:spPr>
          <a:xfrm>
            <a:off x="419100" y="2007476"/>
            <a:ext cx="11353800" cy="3778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33778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20C8418-EC04-DB44-B21F-FE6BAFB491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469" y="0"/>
            <a:ext cx="1060906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58302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15233EE-B762-3149-BA02-A8A056B2B1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5856" y="0"/>
            <a:ext cx="100802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96258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3767728-3996-4644-B457-BDCBC8BDC7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" y="635000"/>
            <a:ext cx="11963400" cy="55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81038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B90D07-32E0-0145-ACFB-54C3902A9D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941" y="0"/>
            <a:ext cx="1089211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39167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CEF4F97-7969-294E-8423-0B8ECD6042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450" y="1524000"/>
            <a:ext cx="7277100" cy="381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50618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09F8DF-2D30-574C-9ABB-AFBB428712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Summaries of what R Markdown 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93ADB0-F07E-0249-9C21-9410CB84A5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806995"/>
            <a:ext cx="10515600" cy="3369968"/>
          </a:xfrm>
        </p:spPr>
        <p:txBody>
          <a:bodyPr/>
          <a:lstStyle/>
          <a:p>
            <a:r>
              <a:rPr lang="en-US" dirty="0"/>
              <a:t>A nice summary of what R markdown is with available details:</a:t>
            </a:r>
          </a:p>
          <a:p>
            <a:pPr lvl="1"/>
            <a:r>
              <a:rPr lang="en-US" dirty="0">
                <a:hlinkClick r:id="rId2"/>
              </a:rPr>
              <a:t>https://rmarkdown.rstudio.com/lesson-1.html</a:t>
            </a:r>
            <a:endParaRPr lang="en-US" dirty="0"/>
          </a:p>
          <a:p>
            <a:r>
              <a:rPr lang="en-US" dirty="0"/>
              <a:t>I wrote this one and there are lots of good details in it:</a:t>
            </a:r>
          </a:p>
          <a:p>
            <a:pPr lvl="1"/>
            <a:r>
              <a:rPr lang="en-US" dirty="0">
                <a:hlinkClick r:id="rId3"/>
              </a:rPr>
              <a:t>https://francoisbirgand.github.io/tutorial-RMarkdown_instructions.html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64670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D53C96-1DFA-D84A-901E-61595C2389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basic structure of an R Markdown document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338D23-616C-7943-B79A-70656DA353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YAML header</a:t>
            </a:r>
          </a:p>
          <a:p>
            <a:pPr lvl="1"/>
            <a:r>
              <a:rPr lang="en-US" dirty="0"/>
              <a:t>Defines settings for the document</a:t>
            </a:r>
          </a:p>
          <a:p>
            <a:pPr lvl="1"/>
            <a:endParaRPr lang="en-US" dirty="0"/>
          </a:p>
          <a:p>
            <a:r>
              <a:rPr lang="en-US" dirty="0"/>
              <a:t>Text</a:t>
            </a:r>
          </a:p>
          <a:p>
            <a:pPr lvl="1"/>
            <a:r>
              <a:rPr lang="en-US" dirty="0"/>
              <a:t>Headings, alteration, cross-references, etc.</a:t>
            </a:r>
          </a:p>
          <a:p>
            <a:pPr lvl="1"/>
            <a:endParaRPr lang="en-US" dirty="0"/>
          </a:p>
          <a:p>
            <a:r>
              <a:rPr lang="en-US" dirty="0"/>
              <a:t>Code chunks</a:t>
            </a:r>
          </a:p>
          <a:p>
            <a:pPr lvl="1"/>
            <a:r>
              <a:rPr lang="en-US" dirty="0"/>
              <a:t>Interprets codes in R, python, C, and </a:t>
            </a:r>
            <a:r>
              <a:rPr lang="en-US" dirty="0" err="1"/>
              <a:t>fortran</a:t>
            </a:r>
            <a:endParaRPr lang="en-US" dirty="0"/>
          </a:p>
          <a:p>
            <a:pPr lvl="1"/>
            <a:endParaRPr lang="en-US" dirty="0"/>
          </a:p>
          <a:p>
            <a:r>
              <a:rPr lang="en-US" i="1" dirty="0" err="1"/>
              <a:t>Rmarkdown</a:t>
            </a:r>
            <a:r>
              <a:rPr lang="en-US" i="1" dirty="0"/>
              <a:t>, </a:t>
            </a:r>
            <a:r>
              <a:rPr lang="en-US" i="1" dirty="0" err="1"/>
              <a:t>Bookdown</a:t>
            </a:r>
            <a:r>
              <a:rPr lang="en-US" i="1" dirty="0"/>
              <a:t>, </a:t>
            </a:r>
            <a:r>
              <a:rPr lang="en-US" dirty="0"/>
              <a:t>and</a:t>
            </a:r>
            <a:r>
              <a:rPr lang="en-US" i="1" dirty="0"/>
              <a:t> </a:t>
            </a:r>
            <a:r>
              <a:rPr lang="en-US" i="1" dirty="0" err="1"/>
              <a:t>blogdown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KNIT</a:t>
            </a:r>
            <a:r>
              <a:rPr lang="en-US" dirty="0"/>
              <a:t> all pieces together in homogeneous output</a:t>
            </a:r>
          </a:p>
        </p:txBody>
      </p:sp>
    </p:spTree>
    <p:extLst>
      <p:ext uri="{BB962C8B-B14F-4D97-AF65-F5344CB8AC3E}">
        <p14:creationId xmlns:p14="http://schemas.microsoft.com/office/powerpoint/2010/main" val="13934560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CBB1E-2CC1-E343-885E-0DF18F7A34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And now some practice 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11C7ECE-66B8-ED4C-865F-505C123359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9545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1EE388-5C37-6842-9FF3-CA82FF7D10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Rmarkdown</a:t>
            </a:r>
            <a:r>
              <a:rPr lang="en-US" dirty="0"/>
              <a:t> starter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E93A72-7B5D-CB4A-9ADA-A95ADB426E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 to </a:t>
            </a:r>
            <a:r>
              <a:rPr lang="en-US" dirty="0">
                <a:hlinkClick r:id="rId2"/>
              </a:rPr>
              <a:t>https://</a:t>
            </a:r>
            <a:r>
              <a:rPr lang="en-US" dirty="0" err="1">
                <a:hlinkClick r:id="rId2"/>
              </a:rPr>
              <a:t>github.com</a:t>
            </a:r>
            <a:r>
              <a:rPr lang="en-US" dirty="0">
                <a:hlinkClick r:id="rId2"/>
              </a:rPr>
              <a:t>/</a:t>
            </a:r>
            <a:r>
              <a:rPr lang="en-US" dirty="0" err="1">
                <a:hlinkClick r:id="rId2"/>
              </a:rPr>
              <a:t>francoisbirgand</a:t>
            </a:r>
            <a:r>
              <a:rPr lang="en-US" dirty="0">
                <a:hlinkClick r:id="rId2"/>
              </a:rPr>
              <a:t>/QClab587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Download ZIP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BF58680-B26D-14ED-F221-B4DFF51844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4854" y="2378408"/>
            <a:ext cx="7469459" cy="3631208"/>
          </a:xfrm>
          <a:prstGeom prst="rect">
            <a:avLst/>
          </a:prstGeom>
        </p:spPr>
      </p:pic>
      <p:sp>
        <p:nvSpPr>
          <p:cNvPr id="5" name="Oval 4">
            <a:extLst>
              <a:ext uri="{FF2B5EF4-FFF2-40B4-BE49-F238E27FC236}">
                <a16:creationId xmlns:a16="http://schemas.microsoft.com/office/drawing/2014/main" id="{E05A590B-169C-854A-B1F3-DF941E991AEA}"/>
              </a:ext>
            </a:extLst>
          </p:cNvPr>
          <p:cNvSpPr/>
          <p:nvPr/>
        </p:nvSpPr>
        <p:spPr>
          <a:xfrm>
            <a:off x="7741920" y="5595703"/>
            <a:ext cx="1570154" cy="513266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68314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0CC41B-F7A4-0543-A425-15B97F1527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0213"/>
            <a:ext cx="10515600" cy="4476750"/>
          </a:xfrm>
        </p:spPr>
        <p:txBody>
          <a:bodyPr/>
          <a:lstStyle/>
          <a:p>
            <a:r>
              <a:rPr lang="en-US" dirty="0"/>
              <a:t>Unzip the file into a directory of your choice</a:t>
            </a:r>
          </a:p>
          <a:p>
            <a:r>
              <a:rPr lang="en-US" dirty="0"/>
              <a:t>In that directory, open the </a:t>
            </a:r>
            <a:r>
              <a:rPr lang="en-US" i="1" dirty="0">
                <a:solidFill>
                  <a:schemeClr val="accent1"/>
                </a:solidFill>
              </a:rPr>
              <a:t>QClab587git.Rproj </a:t>
            </a:r>
            <a:r>
              <a:rPr lang="en-US" dirty="0"/>
              <a:t>file</a:t>
            </a:r>
          </a:p>
          <a:p>
            <a:r>
              <a:rPr lang="en-US" dirty="0"/>
              <a:t>R Studio should open</a:t>
            </a:r>
          </a:p>
          <a:p>
            <a:r>
              <a:rPr lang="en-US" dirty="0"/>
              <a:t>Normally, your screen should look like on the next slide</a:t>
            </a:r>
          </a:p>
        </p:txBody>
      </p:sp>
    </p:spTree>
    <p:extLst>
      <p:ext uri="{BB962C8B-B14F-4D97-AF65-F5344CB8AC3E}">
        <p14:creationId xmlns:p14="http://schemas.microsoft.com/office/powerpoint/2010/main" val="4279511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8036062-5C88-9410-256F-1311A490A6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52" y="0"/>
            <a:ext cx="10911896" cy="6233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53447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CC9058-102E-0843-A5A4-476F203707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Downloading all necessary packages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FFA5C4-B54D-7742-8E8C-CA48D23B6E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In the right bottom window, you can see all the files in your working directory. </a:t>
            </a:r>
          </a:p>
          <a:p>
            <a:r>
              <a:rPr lang="en-US" dirty="0"/>
              <a:t>You can see several types of files:</a:t>
            </a:r>
          </a:p>
          <a:p>
            <a:pPr lvl="1"/>
            <a:r>
              <a:rPr lang="en-US" dirty="0"/>
              <a:t>*.</a:t>
            </a:r>
            <a:r>
              <a:rPr lang="en-US" dirty="0" err="1"/>
              <a:t>Rmd</a:t>
            </a:r>
            <a:r>
              <a:rPr lang="en-US" dirty="0"/>
              <a:t>: </a:t>
            </a:r>
            <a:r>
              <a:rPr lang="en-US" dirty="0" err="1"/>
              <a:t>Rmarkdown</a:t>
            </a:r>
            <a:r>
              <a:rPr lang="en-US" dirty="0"/>
              <a:t> files, where all your code and text are stored</a:t>
            </a:r>
          </a:p>
          <a:p>
            <a:pPr lvl="1"/>
            <a:r>
              <a:rPr lang="en-US" dirty="0"/>
              <a:t>*.</a:t>
            </a:r>
            <a:r>
              <a:rPr lang="en-US" dirty="0" err="1"/>
              <a:t>qmd</a:t>
            </a:r>
            <a:r>
              <a:rPr lang="en-US" dirty="0"/>
              <a:t>: Quarto files if you prefer to use quarto instead of </a:t>
            </a:r>
            <a:r>
              <a:rPr lang="en-US" dirty="0" err="1"/>
              <a:t>Rmarkdown</a:t>
            </a:r>
            <a:endParaRPr lang="en-US" dirty="0"/>
          </a:p>
          <a:p>
            <a:pPr lvl="1"/>
            <a:r>
              <a:rPr lang="en-US" dirty="0"/>
              <a:t>*.</a:t>
            </a:r>
            <a:r>
              <a:rPr lang="en-US" dirty="0" err="1"/>
              <a:t>yml</a:t>
            </a:r>
            <a:r>
              <a:rPr lang="en-US" dirty="0"/>
              <a:t>: files that define the settings for the book and for the output</a:t>
            </a:r>
          </a:p>
          <a:p>
            <a:pPr lvl="1"/>
            <a:r>
              <a:rPr lang="en-US" dirty="0"/>
              <a:t>*.csv: files where the data is stored</a:t>
            </a:r>
          </a:p>
          <a:p>
            <a:pPr lvl="1"/>
            <a:r>
              <a:rPr lang="en-US" dirty="0"/>
              <a:t>*.bib: files in which the info for cited references is stored (there are none in the zip file)</a:t>
            </a:r>
          </a:p>
          <a:p>
            <a:pPr lvl="1"/>
            <a:r>
              <a:rPr lang="en-US" dirty="0"/>
              <a:t>.</a:t>
            </a:r>
            <a:r>
              <a:rPr lang="en-US" dirty="0" err="1"/>
              <a:t>gitignore</a:t>
            </a:r>
            <a:r>
              <a:rPr lang="en-US" dirty="0"/>
              <a:t>: a file in which info of all the files and file types you do NOT want uploaded on </a:t>
            </a:r>
            <a:r>
              <a:rPr lang="en-US" dirty="0" err="1"/>
              <a:t>Github</a:t>
            </a:r>
            <a:r>
              <a:rPr lang="en-US" dirty="0"/>
              <a:t> are stored</a:t>
            </a:r>
          </a:p>
          <a:p>
            <a:pPr lvl="1"/>
            <a:r>
              <a:rPr lang="en-US" dirty="0"/>
              <a:t>*.</a:t>
            </a:r>
            <a:r>
              <a:rPr lang="en-US" dirty="0" err="1"/>
              <a:t>css</a:t>
            </a:r>
            <a:r>
              <a:rPr lang="en-US" dirty="0"/>
              <a:t>: files that define the html output formats</a:t>
            </a:r>
          </a:p>
          <a:p>
            <a:pPr lvl="1"/>
            <a:r>
              <a:rPr lang="en-US" dirty="0"/>
              <a:t>*.R script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075500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38019-B981-9F40-9867-C37109B482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Downloading all necessary packages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BA66C5-2E3C-1648-925C-8EE145227E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Find in that window the </a:t>
            </a:r>
            <a:r>
              <a:rPr lang="en-US" dirty="0" err="1"/>
              <a:t>StarterCode.R</a:t>
            </a:r>
            <a:r>
              <a:rPr lang="en-US" dirty="0"/>
              <a:t> code, click on it</a:t>
            </a:r>
          </a:p>
          <a:p>
            <a:r>
              <a:rPr lang="en-US" dirty="0"/>
              <a:t>The left panel on the general view is now separated with a console at the bottom, and the file you just opened is at the top</a:t>
            </a:r>
          </a:p>
          <a:p>
            <a:r>
              <a:rPr lang="en-US" dirty="0"/>
              <a:t>Select all the text and click run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D3DE35E-EAA6-CF47-90F6-AD6CFB3F44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4001294"/>
            <a:ext cx="9652000" cy="2607556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6FE5BB46-7A50-C546-8D19-60ACE697F0EB}"/>
              </a:ext>
            </a:extLst>
          </p:cNvPr>
          <p:cNvSpPr/>
          <p:nvPr/>
        </p:nvSpPr>
        <p:spPr>
          <a:xfrm>
            <a:off x="7757318" y="4171951"/>
            <a:ext cx="1072357" cy="51435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64565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B7883-9CEC-0B44-A05E-68A715F818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" y="-211886"/>
            <a:ext cx="10515600" cy="1325563"/>
          </a:xfrm>
        </p:spPr>
        <p:txBody>
          <a:bodyPr/>
          <a:lstStyle/>
          <a:p>
            <a:r>
              <a:rPr lang="en-US" dirty="0"/>
              <a:t>Knit a document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F730EC-C4EC-B847-867F-669EE88044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1257" y="1744345"/>
            <a:ext cx="2834640" cy="4351338"/>
          </a:xfrm>
        </p:spPr>
        <p:txBody>
          <a:bodyPr/>
          <a:lstStyle/>
          <a:p>
            <a:r>
              <a:rPr lang="en-US" dirty="0"/>
              <a:t>Open </a:t>
            </a:r>
            <a:r>
              <a:rPr lang="en-US" dirty="0" err="1"/>
              <a:t>Rmarkdown-starter.Rmd</a:t>
            </a:r>
            <a:endParaRPr lang="en-US" dirty="0"/>
          </a:p>
          <a:p>
            <a:r>
              <a:rPr lang="en-US" dirty="0"/>
              <a:t>Knit the document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6829371-D8FA-A64A-8D0B-59A00092C8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2840" y="1300503"/>
            <a:ext cx="8519160" cy="5401581"/>
          </a:xfrm>
          <a:prstGeom prst="rect">
            <a:avLst/>
          </a:prstGeom>
        </p:spPr>
      </p:pic>
      <p:sp>
        <p:nvSpPr>
          <p:cNvPr id="5" name="Oval 4">
            <a:extLst>
              <a:ext uri="{FF2B5EF4-FFF2-40B4-BE49-F238E27FC236}">
                <a16:creationId xmlns:a16="http://schemas.microsoft.com/office/drawing/2014/main" id="{CE46B046-C71B-7041-8176-B97F970F570E}"/>
              </a:ext>
            </a:extLst>
          </p:cNvPr>
          <p:cNvSpPr/>
          <p:nvPr/>
        </p:nvSpPr>
        <p:spPr>
          <a:xfrm>
            <a:off x="4977607" y="1825625"/>
            <a:ext cx="915193" cy="358775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E5CF749-9BA0-D940-8528-6472DAED8CE0}"/>
              </a:ext>
            </a:extLst>
          </p:cNvPr>
          <p:cNvSpPr/>
          <p:nvPr/>
        </p:nvSpPr>
        <p:spPr>
          <a:xfrm>
            <a:off x="4286727" y="2088185"/>
            <a:ext cx="915193" cy="358775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965318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97410-F9E5-8F4E-A982-AA39508872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You should obtain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E7A8B9-2AFC-7F4B-863D-ABD6F3B31B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F8F83D2-6EDA-7E45-B7FE-DA5D05E8B4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2140" y="456565"/>
            <a:ext cx="6057900" cy="589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297004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1ECB8E-B084-854D-9896-0F405866B7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4520" y="680720"/>
            <a:ext cx="10515600" cy="1325563"/>
          </a:xfrm>
        </p:spPr>
        <p:txBody>
          <a:bodyPr/>
          <a:lstStyle/>
          <a:p>
            <a:r>
              <a:rPr lang="en-US" dirty="0"/>
              <a:t>Open ﻿ BAE587-QC-lecture-and-code.Rmd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5E2AA5-5884-B942-80D6-99E2373FB9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8520" y="3237865"/>
            <a:ext cx="10515600" cy="2614295"/>
          </a:xfrm>
        </p:spPr>
        <p:txBody>
          <a:bodyPr>
            <a:normAutofit lnSpcReduction="10000"/>
          </a:bodyPr>
          <a:lstStyle/>
          <a:p>
            <a:r>
              <a:rPr lang="en-US" dirty="0"/>
              <a:t>Knit it to see what you get</a:t>
            </a:r>
          </a:p>
          <a:p>
            <a:r>
              <a:rPr lang="en-US" dirty="0"/>
              <a:t>Read this simple lecture with two distinct learning objectives:</a:t>
            </a:r>
          </a:p>
          <a:p>
            <a:pPr lvl="1"/>
            <a:r>
              <a:rPr lang="en-US" dirty="0"/>
              <a:t>Learn about the hydrology and water quality content</a:t>
            </a:r>
          </a:p>
          <a:p>
            <a:pPr lvl="1"/>
            <a:r>
              <a:rPr lang="en-US" dirty="0"/>
              <a:t>Learn about the Markdown </a:t>
            </a:r>
            <a:r>
              <a:rPr lang="en-US" dirty="0" err="1"/>
              <a:t>synthax</a:t>
            </a:r>
            <a:r>
              <a:rPr lang="en-US" dirty="0"/>
              <a:t> </a:t>
            </a:r>
          </a:p>
          <a:p>
            <a:r>
              <a:rPr lang="en-US" dirty="0"/>
              <a:t>Borrow any code from this document as needed to answer </a:t>
            </a:r>
            <a:r>
              <a:rPr lang="en-US"/>
              <a:t>the questions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716213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28DAA8-F3AB-794A-A35F-26BC3F42D6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Rename ﻿ BAE587_Homework5_Rmd.Rmd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D506AB-DA41-A044-B0E2-71FAE23A3E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800985"/>
            <a:ext cx="10515600" cy="3366135"/>
          </a:xfrm>
        </p:spPr>
        <p:txBody>
          <a:bodyPr>
            <a:normAutofit fontScale="92500"/>
          </a:bodyPr>
          <a:lstStyle/>
          <a:p>
            <a:r>
              <a:rPr lang="en-US" dirty="0"/>
              <a:t>Rename ﻿ BAE587_Homework5_Rmd.Rmd into BAE587_hmk5_yourname.Rmd</a:t>
            </a:r>
          </a:p>
          <a:p>
            <a:r>
              <a:rPr lang="en-US" dirty="0"/>
              <a:t>Or if you are going to use quarto</a:t>
            </a:r>
          </a:p>
          <a:p>
            <a:pPr lvl="1"/>
            <a:r>
              <a:rPr lang="en-US" dirty="0"/>
              <a:t>Rename ﻿ BAE587_Homework5_quarto.Rmd into BAE587_hmk5_yourname.qmd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Use this document to do the homework</a:t>
            </a:r>
          </a:p>
          <a:p>
            <a:r>
              <a:rPr lang="en-US" dirty="0"/>
              <a:t>Submit your BAE587_hmk5_yourname.Rmd (or *.</a:t>
            </a:r>
            <a:r>
              <a:rPr lang="en-US" dirty="0" err="1"/>
              <a:t>qmd</a:t>
            </a:r>
            <a:r>
              <a:rPr lang="en-US" dirty="0"/>
              <a:t>) and the BAE587_hmk5_yourname.html rendered document</a:t>
            </a:r>
          </a:p>
        </p:txBody>
      </p:sp>
    </p:spTree>
    <p:extLst>
      <p:ext uri="{BB962C8B-B14F-4D97-AF65-F5344CB8AC3E}">
        <p14:creationId xmlns:p14="http://schemas.microsoft.com/office/powerpoint/2010/main" val="41114715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4924</TotalTime>
  <Words>988</Words>
  <Application>Microsoft Macintosh PowerPoint</Application>
  <PresentationFormat>Widescreen</PresentationFormat>
  <Paragraphs>122</Paragraphs>
  <Slides>33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7" baseType="lpstr">
      <vt:lpstr>Arial</vt:lpstr>
      <vt:lpstr>Calibri</vt:lpstr>
      <vt:lpstr>Calibri Light</vt:lpstr>
      <vt:lpstr>Office Theme</vt:lpstr>
      <vt:lpstr>BAE 587 Introduction to R Markdown, Quarto, and use in  Homework #5</vt:lpstr>
      <vt:lpstr>Outline of Things to do </vt:lpstr>
      <vt:lpstr>Download R</vt:lpstr>
      <vt:lpstr>Download RStudio</vt:lpstr>
      <vt:lpstr>Using R to make websites, write books and articles</vt:lpstr>
      <vt:lpstr>What’s this ***down business?</vt:lpstr>
      <vt:lpstr>What is the Markup language?</vt:lpstr>
      <vt:lpstr>Markup, Markdown</vt:lpstr>
      <vt:lpstr>One code, several output formats</vt:lpstr>
      <vt:lpstr>Same idea with Quarto, although R not necessary</vt:lpstr>
      <vt:lpstr>Differences between R Markdown and Quarto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Summaries of what R Markdown is</vt:lpstr>
      <vt:lpstr>The basic structure of an R Markdown document</vt:lpstr>
      <vt:lpstr>And now some practice </vt:lpstr>
      <vt:lpstr>Rmarkdown starter</vt:lpstr>
      <vt:lpstr>PowerPoint Presentation</vt:lpstr>
      <vt:lpstr>PowerPoint Presentation</vt:lpstr>
      <vt:lpstr>Downloading all necessary packages</vt:lpstr>
      <vt:lpstr>Downloading all necessary packages</vt:lpstr>
      <vt:lpstr>Knit a document </vt:lpstr>
      <vt:lpstr>You should obtain</vt:lpstr>
      <vt:lpstr>Open ﻿ BAE587-QC-lecture-and-code.Rmd</vt:lpstr>
      <vt:lpstr>Rename ﻿ BAE587_Homework5_Rmd.Rmd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Writing scientific articles, books, and websites in R: an intro to reproducible research</dc:title>
  <dc:creator>Microsoft Office User</dc:creator>
  <cp:lastModifiedBy>François Birgand</cp:lastModifiedBy>
  <cp:revision>40</cp:revision>
  <cp:lastPrinted>2020-09-11T22:48:07Z</cp:lastPrinted>
  <dcterms:created xsi:type="dcterms:W3CDTF">2018-12-15T02:01:26Z</dcterms:created>
  <dcterms:modified xsi:type="dcterms:W3CDTF">2026-09-22T21:06:52Z</dcterms:modified>
</cp:coreProperties>
</file>